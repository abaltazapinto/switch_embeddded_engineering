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- 2 minutos
Numa rede plana, quando um atacante compromete um computador, o problema não fica necessariamente nesse computador. A partir daí ele tenta fazer movimento lateral: descobrir máquinas, procurar serviços vulneráveis e chegar a servidores, impressoras, equipamentos IoT ou zonas de administração.
A ideia das VLANs é simples: dividir a rede em zonas lógicas. Eu gosto da analogia do navio com compartimentos estanques. Se entra água num compartimento, o navio não afunda logo todo, porque existem barreiras internas. Nas redes acontece o mesmo: se um PC de utilizador for comprometido, esse incidente deve ficar contido nessa VLAN.
Tecnicamente, a VLAN cria separação lógica ao nível da rede. Mas a frase importante é: VLAN não é firewall. A VLAN separa; a firewall ou as ACLs decidem o que pode passar entre zonas. Por exemplo, a VLAN dos utilizadores pode aceder a um servidor web numa porta específica, mas não deve conseguir aceder diretamente à VLAN de gestão ou a todos os servidores internos.
Por isso, VLANs são um antídoto contra movimentos laterais porque reduzem a superfície de ataque interna. Não impedem a intrusão inicial, mas impedem que uma máquina comprometida se transforme numa porta aberta para toda 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711696"/>
          </a:xfrm>
          <a:prstGeom prst="rect">
            <a:avLst/>
          </a:prstGeom>
          <a:solidFill>
            <a:srgbClr val="9A1A24"/>
          </a:solidFill>
          <a:ln w="12700">
            <a:solidFill>
              <a:srgbClr val="9A1A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A1A24"/>
          </a:solidFill>
          <a:ln w="12700">
            <a:solidFill>
              <a:srgbClr val="9A1A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9A1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VLANs contra movimentos laterais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138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5E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Segmentação lógica da rede: conter o dano quando uma máquina é comprometida</a:t>
            </a:r>
            <a:endParaRPr lang="en-US" sz="1370" dirty="0"/>
          </a:p>
        </p:txBody>
      </p:sp>
      <p:sp>
        <p:nvSpPr>
          <p:cNvPr id="6" name="Text 4"/>
          <p:cNvSpPr/>
          <p:nvPr/>
        </p:nvSpPr>
        <p:spPr>
          <a:xfrm>
            <a:off x="530352" y="6419088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PGSCE-CONCIB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829800" y="6419088"/>
            <a:ext cx="1783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André Pinto 1200209</a:t>
            </a:r>
            <a:endParaRPr lang="en-US" sz="850" dirty="0"/>
          </a:p>
        </p:txBody>
      </p:sp>
      <p:pic>
        <p:nvPicPr>
          <p:cNvPr id="8" name="Image 0" descr="/mnt/data/a_clean_vector_infographic_technical_illustratio.png">    </p:cNvPr>
          <p:cNvPicPr>
            <a:picLocks noChangeAspect="1"/>
          </p:cNvPicPr>
          <p:nvPr/>
        </p:nvPicPr>
        <p:blipFill>
          <a:blip r:embed="rId1"/>
          <a:srcRect l="0" r="0" t="3315" b="3315"/>
          <a:stretch/>
        </p:blipFill>
        <p:spPr>
          <a:xfrm>
            <a:off x="4663440" y="1170432"/>
            <a:ext cx="6995160" cy="36758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1170432"/>
            <a:ext cx="6995160" cy="367588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4956048"/>
            <a:ext cx="66751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3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Analogia: compartimentos estanques num navio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800600" y="5266944"/>
            <a:ext cx="66751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uma zona fica comprometida, as barreiras impedem que o ataque se espalhe para todo o “navio”.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" y="1261872"/>
            <a:ext cx="393192" cy="393192"/>
          </a:xfrm>
          <a:prstGeom prst="ellipse">
            <a:avLst/>
          </a:prstGeom>
          <a:solidFill>
            <a:srgbClr val="9A1A24"/>
          </a:solidFill>
          <a:ln w="12700">
            <a:solidFill>
              <a:srgbClr val="9A1A24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330452"/>
            <a:ext cx="39319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61288" y="1261872"/>
            <a:ext cx="3154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3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Problema: rede plana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161288" y="1572768"/>
            <a:ext cx="31546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PC comprometido consegue descobrir e tentar atacar outros sistemas internos.</a:t>
            </a:r>
            <a:endParaRPr lang="en-US" sz="1380" dirty="0"/>
          </a:p>
        </p:txBody>
      </p:sp>
      <p:sp>
        <p:nvSpPr>
          <p:cNvPr id="16" name="Shape 13"/>
          <p:cNvSpPr/>
          <p:nvPr/>
        </p:nvSpPr>
        <p:spPr>
          <a:xfrm>
            <a:off x="658368" y="2331720"/>
            <a:ext cx="393192" cy="393192"/>
          </a:xfrm>
          <a:prstGeom prst="ellipse">
            <a:avLst/>
          </a:prstGeom>
          <a:solidFill>
            <a:srgbClr val="9A1A24"/>
          </a:solidFill>
          <a:ln w="12700">
            <a:solidFill>
              <a:srgbClr val="9A1A24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400300"/>
            <a:ext cx="39319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61288" y="2331720"/>
            <a:ext cx="3154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3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Solução: VLANs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161288" y="2642616"/>
            <a:ext cx="31546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a rede em zonas: Utilizadores, Servidores, IoT, Gestão e Convidados.</a:t>
            </a:r>
            <a:endParaRPr lang="en-US" sz="1380" dirty="0"/>
          </a:p>
        </p:txBody>
      </p:sp>
      <p:sp>
        <p:nvSpPr>
          <p:cNvPr id="20" name="Shape 17"/>
          <p:cNvSpPr/>
          <p:nvPr/>
        </p:nvSpPr>
        <p:spPr>
          <a:xfrm>
            <a:off x="658368" y="3401568"/>
            <a:ext cx="393192" cy="393192"/>
          </a:xfrm>
          <a:prstGeom prst="ellipse">
            <a:avLst/>
          </a:prstGeom>
          <a:solidFill>
            <a:srgbClr val="9A1A24"/>
          </a:solidFill>
          <a:ln w="12700">
            <a:solidFill>
              <a:srgbClr val="9A1A24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3470148"/>
            <a:ext cx="39319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61288" y="3401568"/>
            <a:ext cx="3154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3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Controlo: firewall / ACL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161288" y="3712464"/>
            <a:ext cx="31546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tráfego entre VLANs passa por regras: quem fala com quem, em que porta e porquê.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658368" y="4965192"/>
            <a:ext cx="3566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9A1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Frase-chave para defender no pitch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58368" y="5239512"/>
            <a:ext cx="388620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VLAN não é firewall: VLAN separa; firewall decide. O objetivo é limitar o movimento lateral.</a:t>
            </a:r>
            <a:endParaRPr lang="en-US" sz="1420" dirty="0"/>
          </a:p>
        </p:txBody>
      </p:sp>
      <p:sp>
        <p:nvSpPr>
          <p:cNvPr id="26" name="Shape 23"/>
          <p:cNvSpPr/>
          <p:nvPr/>
        </p:nvSpPr>
        <p:spPr>
          <a:xfrm>
            <a:off x="2788920" y="5998464"/>
            <a:ext cx="914400" cy="0"/>
          </a:xfrm>
          <a:prstGeom prst="line">
            <a:avLst/>
          </a:prstGeom>
          <a:noFill/>
          <a:ln w="25400">
            <a:solidFill>
              <a:srgbClr val="9AAECD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983480" y="5998464"/>
            <a:ext cx="914400" cy="0"/>
          </a:xfrm>
          <a:prstGeom prst="line">
            <a:avLst/>
          </a:prstGeom>
          <a:noFill/>
          <a:ln w="25400">
            <a:solidFill>
              <a:srgbClr val="9AAECD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178040" y="5998464"/>
            <a:ext cx="914400" cy="0"/>
          </a:xfrm>
          <a:prstGeom prst="line">
            <a:avLst/>
          </a:prstGeom>
          <a:noFill/>
          <a:ln w="25400">
            <a:solidFill>
              <a:srgbClr val="9AAECD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58368" y="5833872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5884164"/>
            <a:ext cx="144475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31520" y="6057900"/>
            <a:ext cx="14447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E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intrusão inicial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2862072" y="5833872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35224" y="5884164"/>
            <a:ext cx="144475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935224" y="6057900"/>
            <a:ext cx="14447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E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VLAN contém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047488" y="5833872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20640" y="5884164"/>
            <a:ext cx="144475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120640" y="6057900"/>
            <a:ext cx="14447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E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 valida</a:t>
            </a:r>
            <a:endParaRPr lang="en-US" sz="740" dirty="0"/>
          </a:p>
        </p:txBody>
      </p:sp>
      <p:sp>
        <p:nvSpPr>
          <p:cNvPr id="38" name="Shape 35"/>
          <p:cNvSpPr/>
          <p:nvPr/>
        </p:nvSpPr>
        <p:spPr>
          <a:xfrm>
            <a:off x="7232904" y="5833872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9A1A24"/>
          </a:solidFill>
          <a:ln w="12700">
            <a:solidFill>
              <a:srgbClr val="9A1A2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06056" y="5884164"/>
            <a:ext cx="144475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Bloqueio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306056" y="6057900"/>
            <a:ext cx="14447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movimento lateral</a:t>
            </a:r>
            <a:endParaRPr lang="en-US" sz="740" dirty="0"/>
          </a:p>
        </p:txBody>
      </p:sp>
      <p:sp>
        <p:nvSpPr>
          <p:cNvPr id="41" name="Shape 38"/>
          <p:cNvSpPr/>
          <p:nvPr/>
        </p:nvSpPr>
        <p:spPr>
          <a:xfrm>
            <a:off x="5074920" y="4325112"/>
            <a:ext cx="1024128" cy="301752"/>
          </a:xfrm>
          <a:prstGeom prst="roundRect">
            <a:avLst>
              <a:gd name="adj" fmla="val 24242"/>
            </a:avLst>
          </a:prstGeom>
          <a:solidFill>
            <a:srgbClr val="2F5F9B"/>
          </a:solidFill>
          <a:ln w="12700">
            <a:solidFill>
              <a:srgbClr val="2F5F9B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29784" y="4375404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VLAN Users</a:t>
            </a:r>
            <a:endParaRPr lang="en-US" sz="980" dirty="0"/>
          </a:p>
        </p:txBody>
      </p:sp>
      <p:sp>
        <p:nvSpPr>
          <p:cNvPr id="43" name="Shape 40"/>
          <p:cNvSpPr/>
          <p:nvPr/>
        </p:nvSpPr>
        <p:spPr>
          <a:xfrm>
            <a:off x="6537960" y="4325112"/>
            <a:ext cx="1143000" cy="301752"/>
          </a:xfrm>
          <a:prstGeom prst="roundRect">
            <a:avLst>
              <a:gd name="adj" fmla="val 24242"/>
            </a:avLst>
          </a:prstGeom>
          <a:solidFill>
            <a:srgbClr val="2F5F9B"/>
          </a:solidFill>
          <a:ln w="12700">
            <a:solidFill>
              <a:srgbClr val="2F5F9B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92824" y="4375404"/>
            <a:ext cx="10332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VLAN Servers</a:t>
            </a:r>
            <a:endParaRPr lang="en-US" sz="980" dirty="0"/>
          </a:p>
        </p:txBody>
      </p:sp>
      <p:sp>
        <p:nvSpPr>
          <p:cNvPr id="45" name="Shape 42"/>
          <p:cNvSpPr/>
          <p:nvPr/>
        </p:nvSpPr>
        <p:spPr>
          <a:xfrm>
            <a:off x="8183880" y="4325112"/>
            <a:ext cx="914400" cy="301752"/>
          </a:xfrm>
          <a:prstGeom prst="roundRect">
            <a:avLst>
              <a:gd name="adj" fmla="val 24242"/>
            </a:avLst>
          </a:prstGeom>
          <a:solidFill>
            <a:srgbClr val="2F5F9B"/>
          </a:solidFill>
          <a:ln w="12700">
            <a:solidFill>
              <a:srgbClr val="2F5F9B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38744" y="4375404"/>
            <a:ext cx="8046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VLAN IoT</a:t>
            </a:r>
            <a:endParaRPr lang="en-US" sz="980" dirty="0"/>
          </a:p>
        </p:txBody>
      </p:sp>
      <p:sp>
        <p:nvSpPr>
          <p:cNvPr id="47" name="Shape 44"/>
          <p:cNvSpPr/>
          <p:nvPr/>
        </p:nvSpPr>
        <p:spPr>
          <a:xfrm>
            <a:off x="9646920" y="4325112"/>
            <a:ext cx="1005840" cy="301752"/>
          </a:xfrm>
          <a:prstGeom prst="roundRect">
            <a:avLst>
              <a:gd name="adj" fmla="val 24242"/>
            </a:avLst>
          </a:prstGeom>
          <a:solidFill>
            <a:srgbClr val="2F5F9B"/>
          </a:solidFill>
          <a:ln w="12700">
            <a:solidFill>
              <a:srgbClr val="2F5F9B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701784" y="4375404"/>
            <a:ext cx="8961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VLAN Mgmt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ISEP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VLANs contra movimentos laterais</dc:title>
  <dc:subject>Confiabilidade e Cibersegurança - VLANs</dc:subject>
  <dc:creator>André Pinto</dc:creator>
  <cp:lastModifiedBy>André Pinto</cp:lastModifiedBy>
  <cp:revision>1</cp:revision>
  <dcterms:created xsi:type="dcterms:W3CDTF">2026-07-08T19:47:04Z</dcterms:created>
  <dcterms:modified xsi:type="dcterms:W3CDTF">2026-07-08T19:47:04Z</dcterms:modified>
</cp:coreProperties>
</file>